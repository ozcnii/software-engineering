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02920"/>
            <a:ext cx="103327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5D4F"/>
                </a:solidFill>
                <a:latin typeface="PT Sans"/>
              </a:rPr>
              <a:t>Самарский университет  ·  Кафедра программных систем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18288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3A5A8C"/>
                </a:solidFill>
                <a:latin typeface="PT Sans"/>
              </a:rPr>
              <a:t>Автоматизированная система генерирования структуры лабиринта и нахождения выхода из него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794760"/>
            <a:ext cx="9418320" cy="21945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C2416"/>
                </a:solidFill>
                <a:latin typeface="PT Sans"/>
              </a:rPr>
              <a:t>Выполнили: обучающиеся группы 6303-020302D</a:t>
            </a:r>
          </a:p>
          <a:p>
            <a:pPr algn="ctr"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2C2416"/>
                </a:solidFill>
                <a:latin typeface="PT Sans"/>
              </a:rPr>
              <a:t>А.О. Сидоров     Е.А. Фокин</a:t>
            </a:r>
          </a:p>
          <a:p>
            <a:pPr algn="ctr"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6B5D4F"/>
                </a:solidFill>
                <a:latin typeface="PT Sans"/>
              </a:rPr>
              <a:t>Курсовой проект по дисциплине «Программная инженерия»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C2416"/>
                </a:solidFill>
                <a:latin typeface="PT Sans"/>
              </a:rPr>
              <a:t>Руководитель: доцент кафедры ПС  Л.С. Зеленко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B5D4F"/>
                </a:solidFill>
                <a:latin typeface="PT Sans"/>
              </a:rPr>
              <a:t>Самара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3A5A8C"/>
                </a:solidFill>
                <a:latin typeface="PT Sans"/>
              </a:rPr>
              <a:t>Цель и задачи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07008"/>
            <a:ext cx="10881360" cy="41148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772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5D4F"/>
                </a:solidFill>
                <a:latin typeface="PT Sans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3A5A8C"/>
                </a:solidFill>
                <a:latin typeface="PT Sans"/>
              </a:rPr>
              <a:t>Цель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C2416"/>
                </a:solidFill>
                <a:latin typeface="PT Sans"/>
              </a:rPr>
              <a:t>Разработать систему генерации структуры лабиринта и нахождения выхода из него: создание лабиринта по заданным параметрам, визуализация в выбранной теме, сохранение и загрузка из базы данных, ручное и автоматическое прохождение. Реализуется как веб-приложение.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63240"/>
            <a:ext cx="10881360" cy="3383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3A5A8C"/>
                </a:solidFill>
                <a:latin typeface="PT Sans"/>
              </a:rPr>
              <a:t>Задачи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C2416"/>
                </a:solidFill>
                <a:latin typeface="PT Sans"/>
              </a:rPr>
              <a:t>Произвести анализ предметной области: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C2416"/>
                </a:solidFill>
                <a:latin typeface="PT Sans"/>
              </a:rPr>
              <a:t>•  изучить основные принципы генерирования лабиринтов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C2416"/>
                </a:solidFill>
                <a:latin typeface="PT Sans"/>
              </a:rPr>
              <a:t>•  изучить алгоритмы прохождения лабиринтов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C2416"/>
                </a:solidFill>
                <a:latin typeface="PT Sans"/>
              </a:rPr>
              <a:t>•  выполнить обзор существующих систем-аналогов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C2416"/>
                </a:solidFill>
                <a:latin typeface="PT Sans"/>
              </a:rPr>
              <a:t>Спроектировать систему: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C2416"/>
                </a:solidFill>
                <a:latin typeface="PT Sans"/>
              </a:rPr>
              <a:t>•  разработать информационно-логический проект системы по методологии UML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C2416"/>
                </a:solidFill>
                <a:latin typeface="PT Sans"/>
              </a:rPr>
              <a:t>Реализовать систему: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C2416"/>
                </a:solidFill>
                <a:latin typeface="PT Sans"/>
              </a:rPr>
              <a:t>•  разработать и реализовать программное и информационное обеспечение, провести его тестирование и отладку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A5A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0"/>
            <a:ext cx="10332720" cy="68580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FFFFFF"/>
                </a:solidFill>
                <a:latin typeface="PT Sans"/>
              </a:rPr>
              <a:t>Анализ предметной области</a:t>
            </a:r>
          </a:p>
        </p:txBody>
      </p:sp>
      <p:sp>
        <p:nvSpPr>
          <p:cNvPr id="3" name="Rectangle 2"/>
          <p:cNvSpPr/>
          <p:nvPr/>
        </p:nvSpPr>
        <p:spPr>
          <a:xfrm>
            <a:off x="4937760" y="4160520"/>
            <a:ext cx="228600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3A5A8C"/>
                </a:solidFill>
                <a:latin typeface="PT Sans"/>
              </a:rPr>
              <a:t>Описание предметной области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07008"/>
            <a:ext cx="10881360" cy="41148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772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5D4F"/>
                </a:solidFill>
                <a:latin typeface="PT Sans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572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spcAft>
                <a:spcPts val="1400"/>
              </a:spcAft>
            </a:pPr>
            <a:r>
              <a:rPr sz="1700" b="1">
                <a:solidFill>
                  <a:srgbClr val="3A5A8C"/>
                </a:solidFill>
                <a:latin typeface="PT Sans"/>
              </a:rPr>
              <a:t>Лабиринт — </a:t>
            </a:r>
            <a:r>
              <a:rPr sz="1600">
                <a:solidFill>
                  <a:srgbClr val="2C2416"/>
                </a:solidFill>
                <a:latin typeface="PT Sans"/>
              </a:rPr>
              <a:t>структурированное пространство в виде совокупности взаимосвязанных ячеек, разделённых стенами и проходами, предназначенное для поиска пути от входа к выходу при соблюдении заданных правил перемещения.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3A5A8C"/>
                </a:solidFill>
                <a:latin typeface="PT Sans"/>
              </a:rPr>
              <a:t>Двумерный лабиринт — </a:t>
            </a:r>
            <a:r>
              <a:rPr sz="1600">
                <a:solidFill>
                  <a:srgbClr val="2C2416"/>
                </a:solidFill>
                <a:latin typeface="PT Sans"/>
              </a:rPr>
              <a:t>лабиринт в виде прямоугольной сетки клеток в декартовой системе координат, где каждая клетка имеет фиксированные соседние позиции (вверх, вниз, влево, вправо).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3A5A8C"/>
                </a:solidFill>
                <a:latin typeface="PT Sans"/>
              </a:rPr>
              <a:t>Толстостенный лабиринт — </a:t>
            </a:r>
            <a:r>
              <a:rPr sz="1600">
                <a:solidFill>
                  <a:srgbClr val="2C2416"/>
                </a:solidFill>
                <a:latin typeface="PT Sans"/>
              </a:rPr>
              <a:t>разновидность лабиринта, в котором толщина стены равна ширине прохода; представляется матрицей нечётной размерности, где стены и проходы чередуются.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3A5A8C"/>
                </a:solidFill>
                <a:latin typeface="PT Sans"/>
              </a:rPr>
              <a:t>Классификация лабиринтов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07008"/>
            <a:ext cx="10881360" cy="41148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772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5D4F"/>
                </a:solidFill>
                <a:latin typeface="PT Sans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6949440" cy="4572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3A5A8C"/>
                </a:solidFill>
                <a:latin typeface="PT Sans"/>
              </a:rPr>
              <a:t>По происхождению — </a:t>
            </a:r>
            <a:r>
              <a:rPr sz="1500">
                <a:solidFill>
                  <a:srgbClr val="2C2416"/>
                </a:solidFill>
                <a:latin typeface="PT Sans"/>
              </a:rPr>
              <a:t>естественные / искусственные (архитектурные, графические, игровые, компьютерные)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3A5A8C"/>
                </a:solidFill>
                <a:latin typeface="PT Sans"/>
              </a:rPr>
              <a:t>По размерности — </a:t>
            </a:r>
            <a:r>
              <a:rPr sz="1500">
                <a:solidFill>
                  <a:srgbClr val="2C2416"/>
                </a:solidFill>
                <a:latin typeface="PT Sans"/>
              </a:rPr>
              <a:t>двумерные / трёхмерные / многомерные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3A5A8C"/>
                </a:solidFill>
                <a:latin typeface="PT Sans"/>
              </a:rPr>
              <a:t>По типу тесселяции — </a:t>
            </a:r>
            <a:r>
              <a:rPr sz="1500">
                <a:solidFill>
                  <a:srgbClr val="2C2416"/>
                </a:solidFill>
                <a:latin typeface="PT Sans"/>
              </a:rPr>
              <a:t>квадратной / треугольной / произвольной сетки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3A5A8C"/>
                </a:solidFill>
                <a:latin typeface="PT Sans"/>
              </a:rPr>
              <a:t>По структуре путей — </a:t>
            </a:r>
            <a:r>
              <a:rPr sz="1500">
                <a:solidFill>
                  <a:srgbClr val="2C2416"/>
                </a:solidFill>
                <a:latin typeface="PT Sans"/>
              </a:rPr>
              <a:t>идеальные / неидеальные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3A5A8C"/>
                </a:solidFill>
                <a:latin typeface="PT Sans"/>
              </a:rPr>
              <a:t>По структуре стен — </a:t>
            </a:r>
            <a:r>
              <a:rPr sz="1500">
                <a:solidFill>
                  <a:srgbClr val="2C2416"/>
                </a:solidFill>
                <a:latin typeface="PT Sans"/>
              </a:rPr>
              <a:t>тонкостенные / толстостенные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3A5A8C"/>
                </a:solidFill>
                <a:latin typeface="PT Sans"/>
              </a:rPr>
              <a:t>По способу прохождения — </a:t>
            </a:r>
            <a:r>
              <a:rPr sz="1500">
                <a:solidFill>
                  <a:srgbClr val="2C2416"/>
                </a:solidFill>
                <a:latin typeface="PT Sans"/>
              </a:rPr>
              <a:t>статические / алгоритмические / интерактивные</a:t>
            </a:r>
          </a:p>
        </p:txBody>
      </p:sp>
      <p:pic>
        <p:nvPicPr>
          <p:cNvPr id="6" name="Picture 5" descr="maze-natural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645920"/>
            <a:ext cx="3657600" cy="2057400"/>
          </a:xfrm>
          <a:prstGeom prst="rect">
            <a:avLst/>
          </a:prstGeom>
        </p:spPr>
      </p:pic>
      <p:pic>
        <p:nvPicPr>
          <p:cNvPr id="7" name="Picture 6" descr="maze-artificial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4178" y="3931920"/>
            <a:ext cx="3345484" cy="22402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3A5A8C"/>
                </a:solidFill>
                <a:latin typeface="PT Sans"/>
              </a:rPr>
              <a:t>Описание систем-аналогов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07008"/>
            <a:ext cx="10881360" cy="41148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772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5D4F"/>
                </a:solidFill>
                <a:latin typeface="PT Sans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035040" cy="4754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100" b="1" i="0">
                <a:solidFill>
                  <a:srgbClr val="2C2416"/>
                </a:solidFill>
                <a:latin typeface="PT Sans"/>
              </a:rPr>
              <a:t>Maze Algorithms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E7D32"/>
                </a:solidFill>
                <a:latin typeface="PT Sans"/>
              </a:rPr>
              <a:t>Достоинства: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C2416"/>
                </a:solidFill>
                <a:latin typeface="PT Sans"/>
              </a:rPr>
              <a:t>+  возможность выбора множества алгоритмов генерации лабиринтов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C2416"/>
                </a:solidFill>
                <a:latin typeface="PT Sans"/>
              </a:rPr>
              <a:t>+  визуальная демонстрация результата генерации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B03A2E"/>
                </a:solidFill>
                <a:latin typeface="PT Sans"/>
              </a:rPr>
              <a:t>Недостатки: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C2416"/>
                </a:solidFill>
                <a:latin typeface="PT Sans"/>
              </a:rPr>
              <a:t>–  отсутствует система пользователей и авторизация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C2416"/>
                </a:solidFill>
                <a:latin typeface="PT Sans"/>
              </a:rPr>
              <a:t>–  отсутствует хранение лабиринтов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C2416"/>
                </a:solidFill>
                <a:latin typeface="PT Sans"/>
              </a:rPr>
              <a:t>–  нет интеграции алгоритмов поиска пути</a:t>
            </a:r>
          </a:p>
        </p:txBody>
      </p:sp>
      <p:pic>
        <p:nvPicPr>
          <p:cNvPr id="6" name="Picture 5" descr="analog-maze-algorith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514413"/>
            <a:ext cx="4663440" cy="265213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3A5A8C"/>
                </a:solidFill>
                <a:latin typeface="PT Sans"/>
              </a:rPr>
              <a:t>Описание систем-аналогов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07008"/>
            <a:ext cx="10881360" cy="41148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772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5D4F"/>
                </a:solidFill>
                <a:latin typeface="PT Sans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035040" cy="4754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100" b="1" i="0">
                <a:solidFill>
                  <a:srgbClr val="2C2416"/>
                </a:solidFill>
                <a:latin typeface="PT Sans"/>
              </a:rPr>
              <a:t>Mazes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E7D32"/>
                </a:solidFill>
                <a:latin typeface="PT Sans"/>
              </a:rPr>
              <a:t>Достоинства: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C2416"/>
                </a:solidFill>
                <a:latin typeface="PT Sans"/>
              </a:rPr>
              <a:t>+  возможность выбора размеров лабиринта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C2416"/>
                </a:solidFill>
                <a:latin typeface="PT Sans"/>
              </a:rPr>
              <a:t>+  возможность выбора алгоритма генерации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C2416"/>
                </a:solidFill>
                <a:latin typeface="PT Sans"/>
              </a:rPr>
              <a:t>+  возможность выбора точек входа и выхода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B03A2E"/>
                </a:solidFill>
                <a:latin typeface="PT Sans"/>
              </a:rPr>
              <a:t>Недостатки: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C2416"/>
                </a:solidFill>
                <a:latin typeface="PT Sans"/>
              </a:rPr>
              <a:t>–  отсутствуют алгоритмы поиска пути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C2416"/>
                </a:solidFill>
                <a:latin typeface="PT Sans"/>
              </a:rPr>
              <a:t>–  отсутствует ролевая модель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C2416"/>
                </a:solidFill>
                <a:latin typeface="PT Sans"/>
              </a:rPr>
              <a:t>–  нет хранения данных в базе</a:t>
            </a:r>
          </a:p>
        </p:txBody>
      </p:sp>
      <p:pic>
        <p:nvPicPr>
          <p:cNvPr id="6" name="Picture 5" descr="analog-maz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514413"/>
            <a:ext cx="4663440" cy="265213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3A5A8C"/>
                </a:solidFill>
                <a:latin typeface="PT Sans"/>
              </a:rPr>
              <a:t>Описание систем-аналогов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07008"/>
            <a:ext cx="10881360" cy="41148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772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5D4F"/>
                </a:solidFill>
                <a:latin typeface="PT Sans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035040" cy="4754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100" b="1" i="0">
                <a:solidFill>
                  <a:srgbClr val="2C2416"/>
                </a:solidFill>
                <a:latin typeface="PT Sans"/>
              </a:rPr>
              <a:t>Pathfinding Visualizer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E7D32"/>
                </a:solidFill>
                <a:latin typeface="PT Sans"/>
              </a:rPr>
              <a:t>Достоинства: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C2416"/>
                </a:solidFill>
                <a:latin typeface="PT Sans"/>
              </a:rPr>
              <a:t>+  сильная визуализация процесса поиска пути (посещённые клетки и итоговый путь)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C2416"/>
                </a:solidFill>
                <a:latin typeface="PT Sans"/>
              </a:rPr>
              <a:t>+  ориентированность на интерактивность и наглядность алгоритмов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B03A2E"/>
                </a:solidFill>
                <a:latin typeface="PT Sans"/>
              </a:rPr>
              <a:t>Недостатки: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C2416"/>
                </a:solidFill>
                <a:latin typeface="PT Sans"/>
              </a:rPr>
              <a:t>–  отсутствует генерация классического лабиринта заданного типа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C2416"/>
                </a:solidFill>
                <a:latin typeface="PT Sans"/>
              </a:rPr>
              <a:t>–  отсутствует понятие «толстостенный лабиринт»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C2416"/>
                </a:solidFill>
                <a:latin typeface="PT Sans"/>
              </a:rPr>
              <a:t>–  нет ролей пользователей</a:t>
            </a:r>
          </a:p>
        </p:txBody>
      </p:sp>
      <p:pic>
        <p:nvPicPr>
          <p:cNvPr id="6" name="Picture 5" descr="analog-pathfi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516000"/>
            <a:ext cx="4663440" cy="26489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3A5A8C"/>
                </a:solidFill>
                <a:latin typeface="PT Sans"/>
              </a:rPr>
              <a:t>Сравнительные характеристики систем-аналогов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07008"/>
            <a:ext cx="10881360" cy="41148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772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5D4F"/>
                </a:solidFill>
                <a:latin typeface="PT Sans"/>
              </a:rPr>
              <a:t>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63040"/>
          <a:ext cx="1088136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6320"/>
                <a:gridCol w="1508760"/>
                <a:gridCol w="1508760"/>
                <a:gridCol w="1508760"/>
                <a:gridCol w="1508760"/>
              </a:tblGrid>
              <a:tr h="52832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PT Sans"/>
                        </a:rPr>
                        <a:t>Показатель</a:t>
                      </a:r>
                    </a:p>
                  </a:txBody>
                  <a:tcPr anchor="ctr" marT="18288" marB="18288" marL="73152" marR="45720">
                    <a:solidFill>
                      <a:srgbClr val="3A5A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T Sans"/>
                        </a:rPr>
                        <a:t>Maze</a:t>
                      </a:r>
                      <a:br/>
                      <a:r>
                        <a:t>Algorithms</a:t>
                      </a:r>
                    </a:p>
                  </a:txBody>
                  <a:tcPr anchor="ctr" marT="18288" marB="18288" marL="73152" marR="45720">
                    <a:solidFill>
                      <a:srgbClr val="3A5A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T Sans"/>
                        </a:rPr>
                        <a:t>Mazes</a:t>
                      </a:r>
                    </a:p>
                  </a:txBody>
                  <a:tcPr anchor="ctr" marT="18288" marB="18288" marL="73152" marR="45720">
                    <a:solidFill>
                      <a:srgbClr val="3A5A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T Sans"/>
                        </a:rPr>
                        <a:t>Pathfinding</a:t>
                      </a:r>
                      <a:br/>
                      <a:r>
                        <a:t>Visualizer</a:t>
                      </a:r>
                    </a:p>
                  </a:txBody>
                  <a:tcPr anchor="ctr" marT="18288" marB="18288" marL="73152" marR="45720">
                    <a:solidFill>
                      <a:srgbClr val="3A5A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PT Sans"/>
                        </a:rPr>
                        <a:t>Разрабатываемая</a:t>
                      </a:r>
                      <a:br/>
                      <a:r>
                        <a:t>система</a:t>
                      </a:r>
                    </a:p>
                  </a:txBody>
                  <a:tcPr anchor="ctr" marT="18288" marB="18288" marL="73152" marR="45720">
                    <a:solidFill>
                      <a:srgbClr val="3A5A8C"/>
                    </a:solidFill>
                  </a:tcPr>
                </a:tc>
              </a:tr>
              <a:tr h="528320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2C2416"/>
                          </a:solidFill>
                          <a:latin typeface="PT Sans"/>
                        </a:rPr>
                        <a:t>Несколько алгоритмов генерации</a:t>
                      </a:r>
                    </a:p>
                  </a:txBody>
                  <a:tcPr anchor="ctr" marT="18288" marB="18288" marL="73152" marR="45720">
                    <a:solidFill>
                      <a:srgbClr val="FFFE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PT Sans"/>
                        </a:rPr>
                        <a:t>+</a:t>
                      </a:r>
                    </a:p>
                  </a:txBody>
                  <a:tcPr anchor="ctr" marT="18288" marB="18288" marL="73152" marR="45720">
                    <a:solidFill>
                      <a:srgbClr val="FFFE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PT Sans"/>
                        </a:rPr>
                        <a:t>+</a:t>
                      </a:r>
                    </a:p>
                  </a:txBody>
                  <a:tcPr anchor="ctr" marT="18288" marB="18288" marL="73152" marR="45720">
                    <a:solidFill>
                      <a:srgbClr val="FFFE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B03A2E"/>
                          </a:solidFill>
                          <a:latin typeface="PT Sans"/>
                        </a:rPr>
                        <a:t>–</a:t>
                      </a:r>
                    </a:p>
                  </a:txBody>
                  <a:tcPr anchor="ctr" marT="18288" marB="18288" marL="73152" marR="45720">
                    <a:solidFill>
                      <a:srgbClr val="FFFE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PT Sans"/>
                        </a:rPr>
                        <a:t>+</a:t>
                      </a:r>
                    </a:p>
                  </a:txBody>
                  <a:tcPr anchor="ctr" marT="18288" marB="18288" marL="73152" marR="45720">
                    <a:solidFill>
                      <a:srgbClr val="FFFEF9"/>
                    </a:solidFill>
                  </a:tcPr>
                </a:tc>
              </a:tr>
              <a:tr h="528320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2C2416"/>
                          </a:solidFill>
                          <a:latin typeface="PT Sans"/>
                        </a:rPr>
                        <a:t>Настройка размеров</a:t>
                      </a:r>
                    </a:p>
                  </a:txBody>
                  <a:tcPr anchor="ctr" marT="18288" marB="18288" marL="73152" marR="45720"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B03A2E"/>
                          </a:solidFill>
                          <a:latin typeface="PT Sans"/>
                        </a:rPr>
                        <a:t>–</a:t>
                      </a:r>
                    </a:p>
                  </a:txBody>
                  <a:tcPr anchor="ctr" marT="18288" marB="18288" marL="73152" marR="45720"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PT Sans"/>
                        </a:rPr>
                        <a:t>+</a:t>
                      </a:r>
                    </a:p>
                  </a:txBody>
                  <a:tcPr anchor="ctr" marT="18288" marB="18288" marL="73152" marR="45720"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B03A2E"/>
                          </a:solidFill>
                          <a:latin typeface="PT Sans"/>
                        </a:rPr>
                        <a:t>–</a:t>
                      </a:r>
                    </a:p>
                  </a:txBody>
                  <a:tcPr anchor="ctr" marT="18288" marB="18288" marL="73152" marR="45720"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PT Sans"/>
                        </a:rPr>
                        <a:t>+</a:t>
                      </a:r>
                    </a:p>
                  </a:txBody>
                  <a:tcPr anchor="ctr" marT="18288" marB="18288" marL="73152" marR="45720">
                    <a:solidFill>
                      <a:srgbClr val="F0ECE2"/>
                    </a:solidFill>
                  </a:tcPr>
                </a:tc>
              </a:tr>
              <a:tr h="528320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2C2416"/>
                          </a:solidFill>
                          <a:latin typeface="PT Sans"/>
                        </a:rPr>
                        <a:t>Визуализация процесса поиска пути</a:t>
                      </a:r>
                    </a:p>
                  </a:txBody>
                  <a:tcPr anchor="ctr" marT="18288" marB="18288" marL="73152" marR="45720">
                    <a:solidFill>
                      <a:srgbClr val="FFFE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B03A2E"/>
                          </a:solidFill>
                          <a:latin typeface="PT Sans"/>
                        </a:rPr>
                        <a:t>–</a:t>
                      </a:r>
                    </a:p>
                  </a:txBody>
                  <a:tcPr anchor="ctr" marT="18288" marB="18288" marL="73152" marR="45720">
                    <a:solidFill>
                      <a:srgbClr val="FFFE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PT Sans"/>
                        </a:rPr>
                        <a:t>+</a:t>
                      </a:r>
                    </a:p>
                  </a:txBody>
                  <a:tcPr anchor="ctr" marT="18288" marB="18288" marL="73152" marR="45720">
                    <a:solidFill>
                      <a:srgbClr val="FFFE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PT Sans"/>
                        </a:rPr>
                        <a:t>+</a:t>
                      </a:r>
                    </a:p>
                  </a:txBody>
                  <a:tcPr anchor="ctr" marT="18288" marB="18288" marL="73152" marR="45720">
                    <a:solidFill>
                      <a:srgbClr val="FFFE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PT Sans"/>
                        </a:rPr>
                        <a:t>+</a:t>
                      </a:r>
                    </a:p>
                  </a:txBody>
                  <a:tcPr anchor="ctr" marT="18288" marB="18288" marL="73152" marR="45720">
                    <a:solidFill>
                      <a:srgbClr val="FFFEF9"/>
                    </a:solidFill>
                  </a:tcPr>
                </a:tc>
              </a:tr>
              <a:tr h="528320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2C2416"/>
                          </a:solidFill>
                          <a:latin typeface="PT Sans"/>
                        </a:rPr>
                        <a:t>Пошаговый режим</a:t>
                      </a:r>
                    </a:p>
                  </a:txBody>
                  <a:tcPr anchor="ctr" marT="18288" marB="18288" marL="73152" marR="45720"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B03A2E"/>
                          </a:solidFill>
                          <a:latin typeface="PT Sans"/>
                        </a:rPr>
                        <a:t>–</a:t>
                      </a:r>
                    </a:p>
                  </a:txBody>
                  <a:tcPr anchor="ctr" marT="18288" marB="18288" marL="73152" marR="45720"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B03A2E"/>
                          </a:solidFill>
                          <a:latin typeface="PT Sans"/>
                        </a:rPr>
                        <a:t>–</a:t>
                      </a:r>
                    </a:p>
                  </a:txBody>
                  <a:tcPr anchor="ctr" marT="18288" marB="18288" marL="73152" marR="45720"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PT Sans"/>
                        </a:rPr>
                        <a:t>+</a:t>
                      </a:r>
                    </a:p>
                  </a:txBody>
                  <a:tcPr anchor="ctr" marT="18288" marB="18288" marL="73152" marR="45720"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PT Sans"/>
                        </a:rPr>
                        <a:t>+</a:t>
                      </a:r>
                    </a:p>
                  </a:txBody>
                  <a:tcPr anchor="ctr" marT="18288" marB="18288" marL="73152" marR="45720">
                    <a:solidFill>
                      <a:srgbClr val="F0ECE2"/>
                    </a:solidFill>
                  </a:tcPr>
                </a:tc>
              </a:tr>
              <a:tr h="528320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2C2416"/>
                          </a:solidFill>
                          <a:latin typeface="PT Sans"/>
                        </a:rPr>
                        <a:t>Ручное прохождение персонажем со следами</a:t>
                      </a:r>
                    </a:p>
                  </a:txBody>
                  <a:tcPr anchor="ctr" marT="18288" marB="18288" marL="73152" marR="45720">
                    <a:solidFill>
                      <a:srgbClr val="FFFE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B03A2E"/>
                          </a:solidFill>
                          <a:latin typeface="PT Sans"/>
                        </a:rPr>
                        <a:t>–</a:t>
                      </a:r>
                    </a:p>
                  </a:txBody>
                  <a:tcPr anchor="ctr" marT="18288" marB="18288" marL="73152" marR="45720">
                    <a:solidFill>
                      <a:srgbClr val="FFFE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B03A2E"/>
                          </a:solidFill>
                          <a:latin typeface="PT Sans"/>
                        </a:rPr>
                        <a:t>–</a:t>
                      </a:r>
                    </a:p>
                  </a:txBody>
                  <a:tcPr anchor="ctr" marT="18288" marB="18288" marL="73152" marR="45720">
                    <a:solidFill>
                      <a:srgbClr val="FFFE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B03A2E"/>
                          </a:solidFill>
                          <a:latin typeface="PT Sans"/>
                        </a:rPr>
                        <a:t>–</a:t>
                      </a:r>
                    </a:p>
                  </a:txBody>
                  <a:tcPr anchor="ctr" marT="18288" marB="18288" marL="73152" marR="45720">
                    <a:solidFill>
                      <a:srgbClr val="FFFE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PT Sans"/>
                        </a:rPr>
                        <a:t>+</a:t>
                      </a:r>
                    </a:p>
                  </a:txBody>
                  <a:tcPr anchor="ctr" marT="18288" marB="18288" marL="73152" marR="45720">
                    <a:solidFill>
                      <a:srgbClr val="FFFEF9"/>
                    </a:solidFill>
                  </a:tcPr>
                </a:tc>
              </a:tr>
              <a:tr h="528320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2C2416"/>
                          </a:solidFill>
                          <a:latin typeface="PT Sans"/>
                        </a:rPr>
                        <a:t>Несколько тем оформления</a:t>
                      </a:r>
                    </a:p>
                  </a:txBody>
                  <a:tcPr anchor="ctr" marT="18288" marB="18288" marL="73152" marR="45720"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B03A2E"/>
                          </a:solidFill>
                          <a:latin typeface="PT Sans"/>
                        </a:rPr>
                        <a:t>–</a:t>
                      </a:r>
                    </a:p>
                  </a:txBody>
                  <a:tcPr anchor="ctr" marT="18288" marB="18288" marL="73152" marR="45720"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B03A2E"/>
                          </a:solidFill>
                          <a:latin typeface="PT Sans"/>
                        </a:rPr>
                        <a:t>–</a:t>
                      </a:r>
                    </a:p>
                  </a:txBody>
                  <a:tcPr anchor="ctr" marT="18288" marB="18288" marL="73152" marR="45720"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B03A2E"/>
                          </a:solidFill>
                          <a:latin typeface="PT Sans"/>
                        </a:rPr>
                        <a:t>–</a:t>
                      </a:r>
                    </a:p>
                  </a:txBody>
                  <a:tcPr anchor="ctr" marT="18288" marB="18288" marL="73152" marR="45720"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PT Sans"/>
                        </a:rPr>
                        <a:t>+</a:t>
                      </a:r>
                    </a:p>
                  </a:txBody>
                  <a:tcPr anchor="ctr" marT="18288" marB="18288" marL="73152" marR="45720">
                    <a:solidFill>
                      <a:srgbClr val="F0ECE2"/>
                    </a:solidFill>
                  </a:tcPr>
                </a:tc>
              </a:tr>
              <a:tr h="528320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2C2416"/>
                          </a:solidFill>
                          <a:latin typeface="PT Sans"/>
                        </a:rPr>
                        <a:t>Авторизация пользователей</a:t>
                      </a:r>
                    </a:p>
                  </a:txBody>
                  <a:tcPr anchor="ctr" marT="18288" marB="18288" marL="73152" marR="45720">
                    <a:solidFill>
                      <a:srgbClr val="FFFE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B03A2E"/>
                          </a:solidFill>
                          <a:latin typeface="PT Sans"/>
                        </a:rPr>
                        <a:t>–</a:t>
                      </a:r>
                    </a:p>
                  </a:txBody>
                  <a:tcPr anchor="ctr" marT="18288" marB="18288" marL="73152" marR="45720">
                    <a:solidFill>
                      <a:srgbClr val="FFFE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B03A2E"/>
                          </a:solidFill>
                          <a:latin typeface="PT Sans"/>
                        </a:rPr>
                        <a:t>–</a:t>
                      </a:r>
                    </a:p>
                  </a:txBody>
                  <a:tcPr anchor="ctr" marT="18288" marB="18288" marL="73152" marR="45720">
                    <a:solidFill>
                      <a:srgbClr val="FFFE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B03A2E"/>
                          </a:solidFill>
                          <a:latin typeface="PT Sans"/>
                        </a:rPr>
                        <a:t>–</a:t>
                      </a:r>
                    </a:p>
                  </a:txBody>
                  <a:tcPr anchor="ctr" marT="18288" marB="18288" marL="73152" marR="45720">
                    <a:solidFill>
                      <a:srgbClr val="FFFE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PT Sans"/>
                        </a:rPr>
                        <a:t>+</a:t>
                      </a:r>
                    </a:p>
                  </a:txBody>
                  <a:tcPr anchor="ctr" marT="18288" marB="18288" marL="73152" marR="45720">
                    <a:solidFill>
                      <a:srgbClr val="FFFEF9"/>
                    </a:solidFill>
                  </a:tcPr>
                </a:tc>
              </a:tr>
              <a:tr h="528320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2C2416"/>
                          </a:solidFill>
                          <a:latin typeface="PT Sans"/>
                        </a:rPr>
                        <a:t>Сохранение/загрузка лабиринтов</a:t>
                      </a:r>
                    </a:p>
                  </a:txBody>
                  <a:tcPr anchor="ctr" marT="18288" marB="18288" marL="73152" marR="45720"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B03A2E"/>
                          </a:solidFill>
                          <a:latin typeface="PT Sans"/>
                        </a:rPr>
                        <a:t>–</a:t>
                      </a:r>
                    </a:p>
                  </a:txBody>
                  <a:tcPr anchor="ctr" marT="18288" marB="18288" marL="73152" marR="45720"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B03A2E"/>
                          </a:solidFill>
                          <a:latin typeface="PT Sans"/>
                        </a:rPr>
                        <a:t>–</a:t>
                      </a:r>
                    </a:p>
                  </a:txBody>
                  <a:tcPr anchor="ctr" marT="18288" marB="18288" marL="73152" marR="45720"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B03A2E"/>
                          </a:solidFill>
                          <a:latin typeface="PT Sans"/>
                        </a:rPr>
                        <a:t>–</a:t>
                      </a:r>
                    </a:p>
                  </a:txBody>
                  <a:tcPr anchor="ctr" marT="18288" marB="18288" marL="73152" marR="45720"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  <a:latin typeface="PT Sans"/>
                        </a:rPr>
                        <a:t>+</a:t>
                      </a:r>
                    </a:p>
                  </a:txBody>
                  <a:tcPr anchor="ctr" marT="18288" marB="18288" marL="73152" marR="45720">
                    <a:solidFill>
                      <a:srgbClr val="F0ECE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3A5A8C"/>
                </a:solidFill>
                <a:latin typeface="PT Sans"/>
              </a:rPr>
              <a:t>Диаграмма объектов предметной области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07008"/>
            <a:ext cx="10881360" cy="41148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772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5D4F"/>
                </a:solidFill>
                <a:latin typeface="PT Sans"/>
              </a:rPr>
              <a:t>10</a:t>
            </a:r>
          </a:p>
        </p:txBody>
      </p:sp>
      <p:pic>
        <p:nvPicPr>
          <p:cNvPr id="5" name="Picture 4" descr="fig-obje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8814" y="1417320"/>
            <a:ext cx="8043891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A5A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0"/>
            <a:ext cx="10332720" cy="68580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FFFFFF"/>
                </a:solidFill>
                <a:latin typeface="PT Sans"/>
              </a:rPr>
              <a:t>Проектирование системы</a:t>
            </a:r>
          </a:p>
        </p:txBody>
      </p:sp>
      <p:sp>
        <p:nvSpPr>
          <p:cNvPr id="3" name="Rectangle 2"/>
          <p:cNvSpPr/>
          <p:nvPr/>
        </p:nvSpPr>
        <p:spPr>
          <a:xfrm>
            <a:off x="4937760" y="4160520"/>
            <a:ext cx="228600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3A5A8C"/>
                </a:solidFill>
                <a:latin typeface="PT Sans"/>
              </a:rPr>
              <a:t>Структурная схема системы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07008"/>
            <a:ext cx="10881360" cy="41148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772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5D4F"/>
                </a:solidFill>
                <a:latin typeface="PT Sans"/>
              </a:rPr>
              <a:t>12</a:t>
            </a:r>
          </a:p>
        </p:txBody>
      </p:sp>
      <p:pic>
        <p:nvPicPr>
          <p:cNvPr id="5" name="Picture 4" descr="fig-struc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623" y="1417320"/>
            <a:ext cx="8990274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3A5A8C"/>
                </a:solidFill>
                <a:latin typeface="PT Sans"/>
              </a:rPr>
              <a:t>Диаграмма вариантов использования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07008"/>
            <a:ext cx="10881360" cy="41148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772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5D4F"/>
                </a:solidFill>
                <a:latin typeface="PT Sans"/>
              </a:rPr>
              <a:t>13</a:t>
            </a:r>
          </a:p>
        </p:txBody>
      </p:sp>
      <p:pic>
        <p:nvPicPr>
          <p:cNvPr id="5" name="Picture 4" descr="fig-use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093" y="1417320"/>
            <a:ext cx="10539334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3A5A8C"/>
                </a:solidFill>
                <a:latin typeface="PT Sans"/>
              </a:rPr>
              <a:t>Диаграмма состояний системы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07008"/>
            <a:ext cx="10881360" cy="41148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772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5D4F"/>
                </a:solidFill>
                <a:latin typeface="PT Sans"/>
              </a:rPr>
              <a:t>14</a:t>
            </a:r>
          </a:p>
        </p:txBody>
      </p:sp>
      <p:pic>
        <p:nvPicPr>
          <p:cNvPr id="5" name="Picture 4" descr="fig-state-syste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9552" y="1417320"/>
            <a:ext cx="9082415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3A5A8C"/>
                </a:solidFill>
                <a:latin typeface="PT Sans"/>
              </a:rPr>
              <a:t>Диаграмма состояний администратора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07008"/>
            <a:ext cx="10881360" cy="41148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772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5D4F"/>
                </a:solidFill>
                <a:latin typeface="PT Sans"/>
              </a:rPr>
              <a:t>15</a:t>
            </a:r>
          </a:p>
        </p:txBody>
      </p:sp>
      <p:pic>
        <p:nvPicPr>
          <p:cNvPr id="5" name="Picture 4" descr="fig-state-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8587" y="1417320"/>
            <a:ext cx="8184346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3A5A8C"/>
                </a:solidFill>
                <a:latin typeface="PT Sans"/>
              </a:rPr>
              <a:t>Логическая модель данных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07008"/>
            <a:ext cx="10881360" cy="41148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772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5D4F"/>
                </a:solidFill>
                <a:latin typeface="PT Sans"/>
              </a:rPr>
              <a:t>16</a:t>
            </a:r>
          </a:p>
        </p:txBody>
      </p:sp>
      <p:pic>
        <p:nvPicPr>
          <p:cNvPr id="5" name="Picture 4" descr="fig-log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6368" y="1417320"/>
            <a:ext cx="6888784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3A5A8C"/>
                </a:solidFill>
                <a:latin typeface="PT Sans"/>
              </a:rPr>
              <a:t>Алгоритм генерации лабиринта методом Прима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07008"/>
            <a:ext cx="10881360" cy="41148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772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5D4F"/>
                </a:solidFill>
                <a:latin typeface="PT Sans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1143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C2416"/>
                </a:solidFill>
                <a:latin typeface="PT Sans"/>
              </a:rPr>
              <a:t>Строит остовное дерево проходов по двумерной сетке нечётных размеров (7-25): «комнаты» связываются единственным деревом проходов, а оставшиеся стены образуют толстостенную структуру. Случайный выбор фронтиров обеспечивает равномерное ветвление проходов.</a:t>
            </a:r>
          </a:p>
        </p:txBody>
      </p:sp>
      <p:pic>
        <p:nvPicPr>
          <p:cNvPr id="6" name="Picture 5" descr="fig-algo-pr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0516" y="2697480"/>
            <a:ext cx="1990912" cy="36118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3A5A8C"/>
                </a:solidFill>
                <a:latin typeface="PT Sans"/>
              </a:rPr>
              <a:t>Волновой алгоритм поиска пути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07008"/>
            <a:ext cx="10881360" cy="41148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772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5D4F"/>
                </a:solidFill>
                <a:latin typeface="PT Sans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1143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C2416"/>
                </a:solidFill>
                <a:latin typeface="PT Sans"/>
              </a:rPr>
              <a:t>Находит кратчайший путь от входа до выхода. Основан на поиске в ширину: сетка рассматривается как невзвешенный граф проходимых клеток, а обход в порядке очереди гарантирует достижение выхода за минимальное число переходов.</a:t>
            </a:r>
          </a:p>
        </p:txBody>
      </p:sp>
      <p:pic>
        <p:nvPicPr>
          <p:cNvPr id="6" name="Picture 5" descr="fig-algo-w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7841" y="2697480"/>
            <a:ext cx="1935617" cy="36118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3A5A8C"/>
                </a:solidFill>
                <a:latin typeface="PT Sans"/>
              </a:rPr>
              <a:t>Выбор и обоснование комплекса программных средств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07008"/>
            <a:ext cx="10881360" cy="41148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772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5D4F"/>
                </a:solidFill>
                <a:latin typeface="PT Sans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881360" cy="4572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800" b="1" i="0">
                <a:solidFill>
                  <a:srgbClr val="3A5A8C"/>
                </a:solidFill>
                <a:latin typeface="PT Sans"/>
              </a:rPr>
              <a:t>Язык программирования - TypeScript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2C2416"/>
                </a:solidFill>
                <a:latin typeface="PT Sans"/>
              </a:rPr>
              <a:t>Серверная часть: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C2416"/>
                </a:solidFill>
                <a:latin typeface="PT Sans"/>
              </a:rPr>
              <a:t>•  Node.js 22 - среда выполнения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C2416"/>
                </a:solidFill>
                <a:latin typeface="PT Sans"/>
              </a:rPr>
              <a:t>•  NestJS 11 - REST API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C2416"/>
                </a:solidFill>
                <a:latin typeface="PT Sans"/>
              </a:rPr>
              <a:t>•  PostgreSQL 16 + Prisma ORM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2C2416"/>
                </a:solidFill>
                <a:latin typeface="PT Sans"/>
              </a:rPr>
              <a:t>Клиентская часть: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2C2416"/>
                </a:solidFill>
                <a:latin typeface="PT Sans"/>
              </a:rPr>
              <a:t>•  React 19 + Vite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5D4F"/>
                </a:solidFill>
                <a:latin typeface="PT Sans"/>
              </a:rPr>
              <a:t>Инструменты: Visual Studio Code, Git / GitHub, Docker Compose, StarUML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A5A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0"/>
            <a:ext cx="10332720" cy="68580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FFFFFF"/>
                </a:solidFill>
                <a:latin typeface="PT Sans"/>
              </a:rPr>
              <a:t>Реализация системы</a:t>
            </a:r>
          </a:p>
        </p:txBody>
      </p:sp>
      <p:sp>
        <p:nvSpPr>
          <p:cNvPr id="3" name="Rectangle 2"/>
          <p:cNvSpPr/>
          <p:nvPr/>
        </p:nvSpPr>
        <p:spPr>
          <a:xfrm>
            <a:off x="4937760" y="4160520"/>
            <a:ext cx="228600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3A5A8C"/>
                </a:solidFill>
                <a:latin typeface="PT Sans"/>
              </a:rPr>
              <a:t>Диаграмма развёртывания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07008"/>
            <a:ext cx="10881360" cy="41148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772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5D4F"/>
                </a:solidFill>
                <a:latin typeface="PT Sans"/>
              </a:rPr>
              <a:t>21</a:t>
            </a:r>
          </a:p>
        </p:txBody>
      </p:sp>
      <p:pic>
        <p:nvPicPr>
          <p:cNvPr id="5" name="Picture 4" descr="fig-deploym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395" y="1417320"/>
            <a:ext cx="835073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3A5A8C"/>
                </a:solidFill>
                <a:latin typeface="PT Sans"/>
              </a:rPr>
              <a:t>Диаграмма классов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07008"/>
            <a:ext cx="10881360" cy="41148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772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5D4F"/>
                </a:solidFill>
                <a:latin typeface="PT Sans"/>
              </a:rPr>
              <a:t>22</a:t>
            </a:r>
          </a:p>
        </p:txBody>
      </p:sp>
      <p:pic>
        <p:nvPicPr>
          <p:cNvPr id="5" name="Picture 4" descr="fig-cla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3822" y="1417320"/>
            <a:ext cx="7693875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3A5A8C"/>
                </a:solidFill>
                <a:latin typeface="PT Sans"/>
              </a:rPr>
              <a:t>Физическая модель данных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07008"/>
            <a:ext cx="10881360" cy="41148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772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5D4F"/>
                </a:solidFill>
                <a:latin typeface="PT Sans"/>
              </a:rPr>
              <a:t>23</a:t>
            </a:r>
          </a:p>
        </p:txBody>
      </p:sp>
      <p:pic>
        <p:nvPicPr>
          <p:cNvPr id="5" name="Picture 4" descr="fig-phys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4259" y="2040480"/>
            <a:ext cx="3993000" cy="3600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44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0"/>
            <a:ext cx="10332720" cy="68580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4000" b="1" i="0">
                <a:solidFill>
                  <a:srgbClr val="FFFFFF"/>
                </a:solidFill>
                <a:latin typeface="PT Sans"/>
              </a:rPr>
              <a:t>Демонстрация работы системы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C4D2E8"/>
                </a:solidFill>
                <a:latin typeface="PT Sans"/>
              </a:rPr>
              <a:t>видеозапись работы приложения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3A5A8C"/>
                </a:solidFill>
                <a:latin typeface="PT Sans"/>
              </a:rPr>
              <a:t>Итоги работы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07008"/>
            <a:ext cx="10881360" cy="41148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772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5D4F"/>
                </a:solidFill>
                <a:latin typeface="PT Sans"/>
              </a:rP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3108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2C2416"/>
                </a:solidFill>
                <a:latin typeface="PT Sans"/>
              </a:rPr>
              <a:t>•  произведён анализ предметной области, рассмотрены системы-аналоги, построена диаграмма объектов предметной области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2C2416"/>
                </a:solidFill>
                <a:latin typeface="PT Sans"/>
              </a:rPr>
              <a:t>•  спроектирована система: структурная схема, UML-проект, логическая модель данных и алгоритмы обработки данных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2C2416"/>
                </a:solidFill>
                <a:latin typeface="PT Sans"/>
              </a:rPr>
              <a:t>•  реализована система в соответствии со спецификацией требований, проверена её работоспособность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800600"/>
            <a:ext cx="1088136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3A5A8C"/>
                </a:solidFill>
                <a:latin typeface="PT Sans"/>
              </a:rPr>
              <a:t>Применение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C2416"/>
                </a:solidFill>
                <a:latin typeface="PT Sans"/>
              </a:rPr>
              <a:t>Самостоятельное веб-приложение для генерации и прохождения лабиринтов и учебная платформа для изучения алгоритмов на графах (Прима, Краскала, поиск в ширину, метод правой руки).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A5A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0"/>
            <a:ext cx="10332720" cy="68580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FFFFFF"/>
                </a:solidFill>
                <a:latin typeface="PT Sans"/>
              </a:rPr>
              <a:t>Спасибо за внимание!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